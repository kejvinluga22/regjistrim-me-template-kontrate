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Qëllimi i takimit: të prezantojmë programin e ri që plotëson vetë kontratat e regjistrimit, të tregojmë si punon në praktikë dhe të bien dakord për hapat e ardhshëm (tarifat, modelet, trajnimi).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Krahasimi i shpejtë: si punohej deri tani dhe çfarë ndryshon. Theksoni uljen e gabimeve dhe kohën që kursehet në periudhat e ngarkuara të regjistrimit (raundet).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Demonstroni rrjedhën: zgjidhni llojin dhe nivelin (programi i mban mend), plotësoni të dhënat, pastaj Ctrl+Enter. Programi pyet nëse doni ta printoni dhe formulari pastrohet për studentin tjetër.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Programi përdor katër modelet tona ekzistuese. Nëse vitin tjetër ndryshon teksti i kontratës, ndryshohet vetëm modeli Word – programi vazhdon të punojë njësoj.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Këto janë pikat ku ndodhnin më shpesh gabime kur kontrata plotësohej me dorë. Fushat që lihen bosh dalin si vijë (____) që të plotësohen me dorë nëse duhet.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 ruajtjes del pyetja “Të printohet?”. Enter = Po, Esc = Jo. Printimi bëhet me Word në sfond, pa e hapur dokumentin. Numri i kopjeve ndryshohet te Cilësimet.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Tekstet e këtyre tre dokumenteve janë draft dhe duhet të kontrollohen një herë nga zyra (sidomos të dhënat bankare – IBAN/SWIFT – te Fleta e pagesës).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Lista tregon numrin e studentëve sipas llojit dhe nivelit. Eksporti në Excel merr parasysh filtrat e zgjedhur.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Tarifat në foto janë shembull. Tarifat vendase reale duhet të vendosen një herë te Cilësimet (ndërkombëtarët: 3500 €). Emrat shqip/anglisht të programeve mund të ndryshohen po aty.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Programi punon vetëm në kompjuterin ku hapet (adresa 127.0.0.1). Për siguri: backup i rregullt i dosjes dhe kujdes me USB-në, sepse përmban të dhëna personale.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Propozim për vendim: kush vendos tarifat dhe kur, kush kontrollon modelet, data e trajnimit. Zgjerimet mund të shtohen sipas prioriteteve të zyrës.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Nëse ka kohë, bëni një demonstrim live me një student shembull (pa printim) dhe tregoni listën dhe Cilësimet.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3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 karta"/>
          <p:cNvSpPr/>
          <p:nvPr/>
        </p:nvSpPr>
        <p:spPr>
          <a:xfrm>
            <a:off x="548640" y="822960"/>
            <a:ext cx="329184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969264"/>
            <a:ext cx="2743200" cy="12222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8803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Kontratat e Studentëve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86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Automatizimi i kontratave të regjistrimit për Zyrën e Pranimeve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D9DC"/>
                </a:solidFill>
                <a:latin typeface="Calibri"/>
              </a:rPr>
              <a:t>Vendas &amp; Ndërkombëtar  ·  Bachelor &amp; Master  ·  Viti akademik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Takim pune · Tetor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Nga plotësimi me dorë te kontrata gati me një klikim</a:t>
            </a:r>
          </a:p>
        </p:txBody>
      </p:sp>
      <p:sp>
        <p:nvSpPr>
          <p:cNvPr id="3" name="Karta Para"/>
          <p:cNvSpPr/>
          <p:nvPr/>
        </p:nvSpPr>
        <p:spPr>
          <a:xfrm>
            <a:off x="548640" y="1600200"/>
            <a:ext cx="5318607" cy="3977639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6B7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 Emoji"/>
              </a:rPr>
              <a:t>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3672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C2330"/>
                </a:solidFill>
                <a:latin typeface="Calibri"/>
              </a:rPr>
              <a:t>Para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4495647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6B7486"/>
              </a:buClr>
              <a:buFont typeface="Arial"/>
              <a:buChar char="•"/>
            </a:pPr>
            <a:r>
              <a:rPr sz="1800" b="0">
                <a:solidFill>
                  <a:srgbClr val="1C2330"/>
                </a:solidFill>
                <a:latin typeface="Calibri"/>
              </a:rPr>
              <a:t>Çdo kontratë plotësohej me dorë në Word</a:t>
            </a:r>
          </a:p>
          <a:p>
            <a:pPr marL="256032" indent="-256032">
              <a:spcAft>
                <a:spcPts val="1400"/>
              </a:spcAft>
              <a:buClr>
                <a:srgbClr val="6B7486"/>
              </a:buClr>
              <a:buFont typeface="Arial"/>
              <a:buChar char="•"/>
            </a:pPr>
            <a:r>
              <a:rPr sz="1800" b="0">
                <a:solidFill>
                  <a:srgbClr val="1C2330"/>
                </a:solidFill>
                <a:latin typeface="Calibri"/>
              </a:rPr>
              <a:t>4 modele të ndryshme për t’u mbajtur mend</a:t>
            </a:r>
          </a:p>
          <a:p>
            <a:pPr marL="256032" indent="-256032">
              <a:spcAft>
                <a:spcPts val="1400"/>
              </a:spcAft>
              <a:buClr>
                <a:srgbClr val="6B7486"/>
              </a:buClr>
              <a:buFont typeface="Arial"/>
              <a:buChar char="•"/>
            </a:pPr>
            <a:r>
              <a:rPr sz="1800" b="0">
                <a:solidFill>
                  <a:srgbClr val="1C2330"/>
                </a:solidFill>
                <a:latin typeface="Calibri"/>
              </a:rPr>
              <a:t>Rrezik gabimesh: emra, data, shuma me fjalë</a:t>
            </a:r>
          </a:p>
          <a:p>
            <a:pPr marL="256032" indent="-256032">
              <a:spcAft>
                <a:spcPts val="1400"/>
              </a:spcAft>
              <a:buClr>
                <a:srgbClr val="6B7486"/>
              </a:buClr>
              <a:buFont typeface="Arial"/>
              <a:buChar char="•"/>
            </a:pPr>
            <a:r>
              <a:rPr sz="1800" b="0">
                <a:solidFill>
                  <a:srgbClr val="1C2330"/>
                </a:solidFill>
                <a:latin typeface="Calibri"/>
              </a:rPr>
              <a:t>Kontratat e vjetra gjendeshin me vështirësi</a:t>
            </a:r>
          </a:p>
        </p:txBody>
      </p:sp>
      <p:sp>
        <p:nvSpPr>
          <p:cNvPr id="7" name="Karta Tani"/>
          <p:cNvSpPr/>
          <p:nvPr/>
        </p:nvSpPr>
        <p:spPr>
          <a:xfrm>
            <a:off x="6324447" y="1600200"/>
            <a:ext cx="5318607" cy="3977639"/>
          </a:xfrm>
          <a:prstGeom prst="roundRect">
            <a:avLst>
              <a:gd name="adj" fmla="val 5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735927" y="1920240"/>
            <a:ext cx="685800" cy="685800"/>
          </a:xfrm>
          <a:prstGeom prst="ellipse">
            <a:avLst/>
          </a:prstGeom>
          <a:solidFill>
            <a:srgbClr val="186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 Emoji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4607" y="2011680"/>
            <a:ext cx="3672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C2330"/>
                </a:solidFill>
                <a:latin typeface="Calibri"/>
              </a:rPr>
              <a:t>Tani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5927" y="2926080"/>
            <a:ext cx="4495647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186A3B"/>
              </a:buClr>
              <a:buFont typeface="Arial"/>
              <a:buChar char="•"/>
            </a:pPr>
            <a:r>
              <a:rPr sz="1800" b="0">
                <a:solidFill>
                  <a:srgbClr val="1C2330"/>
                </a:solidFill>
                <a:latin typeface="Calibri"/>
              </a:rPr>
              <a:t>Një formular i vetëm për të gjithë studentët</a:t>
            </a:r>
          </a:p>
          <a:p>
            <a:pPr marL="256032" indent="-256032">
              <a:spcAft>
                <a:spcPts val="1400"/>
              </a:spcAft>
              <a:buClr>
                <a:srgbClr val="186A3B"/>
              </a:buClr>
              <a:buFont typeface="Arial"/>
              <a:buChar char="•"/>
            </a:pPr>
            <a:r>
              <a:rPr sz="1800" b="0">
                <a:solidFill>
                  <a:srgbClr val="1C2330"/>
                </a:solidFill>
                <a:latin typeface="Calibri"/>
              </a:rPr>
              <a:t>Programi zgjedh vetë modelin e duhur</a:t>
            </a:r>
          </a:p>
          <a:p>
            <a:pPr marL="256032" indent="-256032">
              <a:spcAft>
                <a:spcPts val="1400"/>
              </a:spcAft>
              <a:buClr>
                <a:srgbClr val="186A3B"/>
              </a:buClr>
              <a:buFont typeface="Arial"/>
              <a:buChar char="•"/>
            </a:pPr>
            <a:r>
              <a:rPr sz="1800" b="0">
                <a:solidFill>
                  <a:srgbClr val="1C2330"/>
                </a:solidFill>
                <a:latin typeface="Calibri"/>
              </a:rPr>
              <a:t>Gjinia, tarifa, shumat dhe emaili plotësohen vetë</a:t>
            </a:r>
          </a:p>
          <a:p>
            <a:pPr marL="256032" indent="-256032">
              <a:spcAft>
                <a:spcPts val="1400"/>
              </a:spcAft>
              <a:buClr>
                <a:srgbClr val="186A3B"/>
              </a:buClr>
              <a:buFont typeface="Arial"/>
              <a:buChar char="•"/>
            </a:pPr>
            <a:r>
              <a:rPr sz="1800" b="0">
                <a:solidFill>
                  <a:srgbClr val="1C2330"/>
                </a:solidFill>
                <a:latin typeface="Calibri"/>
              </a:rPr>
              <a:t>Lista me kërkim, raundet dhe eksport në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Si funksionon: 3 hapa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61848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2330"/>
                </a:solidFill>
                <a:latin typeface="Calibri"/>
              </a:rPr>
              <a:t>Zgjidh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075688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Vendas ose Ndërkombëtar, Bachelor ose Master dhe raundin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063240"/>
            <a:ext cx="731520" cy="73152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08152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2330"/>
                </a:solidFill>
                <a:latin typeface="Calibri"/>
              </a:rPr>
              <a:t>Plotëso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538728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Të dhënat e studentit, programin dhe tarifën – Enter kalon te fusha tjetër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526280"/>
            <a:ext cx="731520" cy="73152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54456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2330"/>
                </a:solidFill>
                <a:latin typeface="Calibri"/>
              </a:rPr>
              <a:t>Ruaj &amp; printo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001768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Kontrata Word krijohet menjëherë; zgjidhni printerin dhe printohet</a:t>
            </a:r>
          </a:p>
        </p:txBody>
      </p:sp>
      <p:sp>
        <p:nvSpPr>
          <p:cNvPr id="12" name="Korniza"/>
          <p:cNvSpPr/>
          <p:nvPr/>
        </p:nvSpPr>
        <p:spPr>
          <a:xfrm>
            <a:off x="5733288" y="1527048"/>
            <a:ext cx="5952744" cy="34487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0000" dist="25400" dir="5400000" algn="t" rotWithShape="0">
              <a:srgbClr val="1C233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shot_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00200"/>
            <a:ext cx="5806440" cy="3302412"/>
          </a:xfrm>
          <a:prstGeom prst="rect">
            <a:avLst/>
          </a:prstGeom>
          <a:ln w="9525">
            <a:solidFill>
              <a:srgbClr val="DFE3EA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806440" y="5074920"/>
            <a:ext cx="5806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B7486"/>
                </a:solidFill>
                <a:latin typeface="Calibri"/>
              </a:rPr>
              <a:t>Formulari: zgjedhja e kontratës dhe të dhënat e studentit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4 kontrata, një formular</a:t>
            </a:r>
          </a:p>
        </p:txBody>
      </p:sp>
      <p:sp>
        <p:nvSpPr>
          <p:cNvPr id="3" name="Nentitulli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B7486"/>
                </a:solidFill>
                <a:latin typeface="Calibri"/>
              </a:rPr>
              <a:t>Modelet zyrtare të CIT – teksti mbetet i njëjtë, programi vetëm plotëson vendet bosh</a:t>
            </a:r>
          </a:p>
        </p:txBody>
      </p:sp>
      <p:sp>
        <p:nvSpPr>
          <p:cNvPr id="4" name="Kontrata 1"/>
          <p:cNvSpPr/>
          <p:nvPr/>
        </p:nvSpPr>
        <p:spPr>
          <a:xfrm>
            <a:off x="548640" y="1691640"/>
            <a:ext cx="5364327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Emoj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103120"/>
            <a:ext cx="3626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2330"/>
                </a:solidFill>
                <a:latin typeface="Calibri"/>
              </a:rPr>
              <a:t>Vendas – Bachelor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606040"/>
            <a:ext cx="362696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Shqip · me pjesën e prindit për studentët nën 18 vjeç</a:t>
            </a:r>
          </a:p>
        </p:txBody>
      </p:sp>
      <p:sp>
        <p:nvSpPr>
          <p:cNvPr id="8" name="Kontrata 2"/>
          <p:cNvSpPr/>
          <p:nvPr/>
        </p:nvSpPr>
        <p:spPr>
          <a:xfrm>
            <a:off x="6278727" y="1691640"/>
            <a:ext cx="5364327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644487" y="2103120"/>
            <a:ext cx="777240" cy="77724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Emoji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6047" y="2103120"/>
            <a:ext cx="3626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2330"/>
                </a:solidFill>
                <a:latin typeface="Calibri"/>
              </a:rPr>
              <a:t>Vendas – 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6047" y="2606040"/>
            <a:ext cx="362696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Shqip · programi dhe profili i Masterit</a:t>
            </a:r>
          </a:p>
        </p:txBody>
      </p:sp>
      <p:sp>
        <p:nvSpPr>
          <p:cNvPr id="12" name="Kontrata 3"/>
          <p:cNvSpPr/>
          <p:nvPr/>
        </p:nvSpPr>
        <p:spPr>
          <a:xfrm>
            <a:off x="548640" y="3977639"/>
            <a:ext cx="5364327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14400" y="4389120"/>
            <a:ext cx="777240" cy="777240"/>
          </a:xfrm>
          <a:prstGeom prst="ellipse">
            <a:avLst/>
          </a:prstGeom>
          <a:solidFill>
            <a:srgbClr val="1C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Emoji"/>
              </a:rP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389120"/>
            <a:ext cx="3626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2330"/>
                </a:solidFill>
                <a:latin typeface="Calibri"/>
              </a:rPr>
              <a:t>Ndërkombëtar – Bachelor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892040"/>
            <a:ext cx="362696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Shqip + anglisht · tarifa 3500 € · leje qëndrimi</a:t>
            </a:r>
          </a:p>
        </p:txBody>
      </p:sp>
      <p:sp>
        <p:nvSpPr>
          <p:cNvPr id="16" name="Kontrata 4"/>
          <p:cNvSpPr/>
          <p:nvPr/>
        </p:nvSpPr>
        <p:spPr>
          <a:xfrm>
            <a:off x="6278727" y="3977639"/>
            <a:ext cx="5364327" cy="1965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644487" y="4389120"/>
            <a:ext cx="777240" cy="777240"/>
          </a:xfrm>
          <a:prstGeom prst="ellipse">
            <a:avLst/>
          </a:prstGeom>
          <a:solidFill>
            <a:srgbClr val="1C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Emoji"/>
              </a:rP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6047" y="4389120"/>
            <a:ext cx="3626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C2330"/>
                </a:solidFill>
                <a:latin typeface="Calibri"/>
              </a:rPr>
              <a:t>Ndërkombëtar – 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6047" y="4892040"/>
            <a:ext cx="362696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Shqip + anglisht · programi dhe profili në të dyja gjuhët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Çfarë plotëson programi vetë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@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34542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330"/>
                </a:solidFill>
                <a:latin typeface="Calibri"/>
              </a:rPr>
              <a:t>Email-i universitar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98648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emri.mbiemri@cit.edu.al – edhe për emrat me ë, ç, ğ, ö</a:t>
            </a:r>
          </a:p>
        </p:txBody>
      </p:sp>
      <p:sp>
        <p:nvSpPr>
          <p:cNvPr id="6" name="Oval 5"/>
          <p:cNvSpPr/>
          <p:nvPr/>
        </p:nvSpPr>
        <p:spPr>
          <a:xfrm>
            <a:off x="4368698" y="1600200"/>
            <a:ext cx="685800" cy="68580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♀♂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8698" y="2468880"/>
            <a:ext cx="34542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330"/>
                </a:solidFill>
                <a:latin typeface="Calibri"/>
              </a:rPr>
              <a:t>Gjinia në tekst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8698" y="2898648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Studenti / Studentja, i biri / e bija, banues / banuese</a:t>
            </a:r>
          </a:p>
        </p:txBody>
      </p:sp>
      <p:sp>
        <p:nvSpPr>
          <p:cNvPr id="9" name="Oval 8"/>
          <p:cNvSpPr/>
          <p:nvPr/>
        </p:nvSpPr>
        <p:spPr>
          <a:xfrm>
            <a:off x="8188756" y="1600200"/>
            <a:ext cx="685800" cy="68580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8756" y="2468880"/>
            <a:ext cx="34542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330"/>
                </a:solidFill>
                <a:latin typeface="Calibri"/>
              </a:rPr>
              <a:t>Tarifa dhe zbritja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8756" y="2898648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Tarifa sipas programit; zbritja % llogarit tarifën përfundimtare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40480"/>
            <a:ext cx="685800" cy="68580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34542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330"/>
                </a:solidFill>
                <a:latin typeface="Calibri"/>
              </a:rPr>
              <a:t>Shuma me fjalë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3500 → “tremijë e pesëqind” / “Three thousand five hundred”</a:t>
            </a:r>
          </a:p>
        </p:txBody>
      </p:sp>
      <p:sp>
        <p:nvSpPr>
          <p:cNvPr id="15" name="Oval 14"/>
          <p:cNvSpPr/>
          <p:nvPr/>
        </p:nvSpPr>
        <p:spPr>
          <a:xfrm>
            <a:off x="4368698" y="3840480"/>
            <a:ext cx="685800" cy="68580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698" y="4709160"/>
            <a:ext cx="34542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330"/>
                </a:solidFill>
                <a:latin typeface="Calibri"/>
              </a:rPr>
              <a:t>Prindi për të miturit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5138928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Mosha llogaritet vetë; pjesa e prindit shtohet vetëm kur duhet</a:t>
            </a:r>
          </a:p>
        </p:txBody>
      </p:sp>
      <p:sp>
        <p:nvSpPr>
          <p:cNvPr id="18" name="Oval 17"/>
          <p:cNvSpPr/>
          <p:nvPr/>
        </p:nvSpPr>
        <p:spPr>
          <a:xfrm>
            <a:off x="8188756" y="3840480"/>
            <a:ext cx="685800" cy="68580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Emoji"/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756" y="4709160"/>
            <a:ext cx="34542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330"/>
                </a:solidFill>
                <a:latin typeface="Calibri"/>
              </a:rPr>
              <a:t>Datat dita/muaji/viti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756" y="5138928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21/07/2008 – me kalendar dhe kontroll të datës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Printimi me një klikim</a:t>
            </a:r>
          </a:p>
        </p:txBody>
      </p:sp>
      <p:sp>
        <p:nvSpPr>
          <p:cNvPr id="3" name="Korniza"/>
          <p:cNvSpPr/>
          <p:nvPr/>
        </p:nvSpPr>
        <p:spPr>
          <a:xfrm>
            <a:off x="475488" y="1481328"/>
            <a:ext cx="6181344" cy="357873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0000" dist="25400" dir="5400000" algn="t" rotWithShape="0">
              <a:srgbClr val="1C233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shot_pr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035040" cy="3432428"/>
          </a:xfrm>
          <a:prstGeom prst="rect">
            <a:avLst/>
          </a:prstGeom>
          <a:ln w="9525">
            <a:solidFill>
              <a:srgbClr val="DFE3E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086600" y="1691640"/>
            <a:ext cx="455645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700" b="1">
                <a:solidFill>
                  <a:srgbClr val="1C2330"/>
                </a:solidFill>
                <a:latin typeface="Calibri"/>
              </a:rPr>
              <a:t>Ruaj → “Të printohet?”</a:t>
            </a:r>
          </a:p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700" b="0">
                <a:solidFill>
                  <a:srgbClr val="1C2330"/>
                </a:solidFill>
                <a:latin typeface="Calibri"/>
              </a:rPr>
              <a:t>Zgjidhni printerin nga lista e kompjuterit (mbahet mend i fundit)</a:t>
            </a:r>
          </a:p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700" b="0">
                <a:solidFill>
                  <a:srgbClr val="1C2330"/>
                </a:solidFill>
                <a:latin typeface="Calibri"/>
              </a:rPr>
              <a:t>Kontrata del në 2 kopje: për studentin dhe për CIT</a:t>
            </a:r>
          </a:p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700" b="0">
                <a:solidFill>
                  <a:srgbClr val="1C2330"/>
                </a:solidFill>
                <a:latin typeface="Calibri"/>
              </a:rPr>
              <a:t>Dokumentet shtesë printohen bashkë me kontratën</a:t>
            </a:r>
          </a:p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700" b="0">
                <a:solidFill>
                  <a:srgbClr val="1C2330"/>
                </a:solidFill>
                <a:latin typeface="Calibri"/>
              </a:rPr>
              <a:t>Printeri kryesor i Windows-it nuk ndryshon</a:t>
            </a:r>
          </a:p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700" b="0">
                <a:solidFill>
                  <a:srgbClr val="1C2330"/>
                </a:solidFill>
                <a:latin typeface="Calibri"/>
              </a:rPr>
              <a:t>Mund të ri-printohet kurdo nga lista e studentëve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Dokumente shtesë nga të njëjtat të dhëna</a:t>
            </a:r>
          </a:p>
        </p:txBody>
      </p:sp>
      <p:sp>
        <p:nvSpPr>
          <p:cNvPr id="3" name="Nentitulli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B7486"/>
                </a:solidFill>
                <a:latin typeface="Calibri"/>
              </a:rPr>
              <a:t>Aktivizohen me një çelës te Cilësimet – krijohen dhe printohen bashkë me kontratën</a:t>
            </a:r>
          </a:p>
        </p:txBody>
      </p:sp>
      <p:sp>
        <p:nvSpPr>
          <p:cNvPr id="4" name="Dokument 1"/>
          <p:cNvSpPr/>
          <p:nvPr/>
        </p:nvSpPr>
        <p:spPr>
          <a:xfrm>
            <a:off x="548640" y="1783080"/>
            <a:ext cx="3454298" cy="33832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 Emoji"/>
              </a:rPr>
              <a:t>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C2330"/>
                </a:solidFill>
                <a:latin typeface="Calibri"/>
              </a:rPr>
              <a:t>Letër pranimi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72277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Shqip + anglisht · për vizën dhe lejen e qëndrimit të studentëve ndërkombëtarë</a:t>
            </a:r>
          </a:p>
        </p:txBody>
      </p:sp>
      <p:sp>
        <p:nvSpPr>
          <p:cNvPr id="8" name="Dokument 2"/>
          <p:cNvSpPr/>
          <p:nvPr/>
        </p:nvSpPr>
        <p:spPr>
          <a:xfrm>
            <a:off x="4368698" y="1783080"/>
            <a:ext cx="3454298" cy="33832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734458" y="2148840"/>
            <a:ext cx="777240" cy="77724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 Emoji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4458" y="3154680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C2330"/>
                </a:solidFill>
                <a:latin typeface="Calibri"/>
              </a:rPr>
              <a:t>Vërtetim regjistrimi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4458" y="3657600"/>
            <a:ext cx="272277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Vërteton regjistrimin në programin dhe vitin akademik përkatës</a:t>
            </a:r>
          </a:p>
        </p:txBody>
      </p:sp>
      <p:sp>
        <p:nvSpPr>
          <p:cNvPr id="12" name="Dokument 3"/>
          <p:cNvSpPr/>
          <p:nvPr/>
        </p:nvSpPr>
        <p:spPr>
          <a:xfrm>
            <a:off x="8188756" y="1783080"/>
            <a:ext cx="3454298" cy="33832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554516" y="2148840"/>
            <a:ext cx="777240" cy="77724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4516" y="3154680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C2330"/>
                </a:solidFill>
                <a:latin typeface="Calibri"/>
              </a:rPr>
              <a:t>Fletë pagese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4516" y="3657600"/>
            <a:ext cx="272277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Tarifa e regjistrimit, tarifa e shkollimit dhe dy këstet 50% /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330"/>
                </a:solidFill>
                <a:latin typeface="Calibri"/>
              </a:rPr>
              <a:t>Mund të shtohen edhe modele të tjera Word </a:t>
            </a:r>
            <a:r>
              <a:rPr sz="1500" b="0" i="0">
                <a:solidFill>
                  <a:srgbClr val="6B7486"/>
                </a:solidFill>
                <a:latin typeface="Calibri"/>
              </a:rPr>
              <a:t>(deklarata, vërtetime…)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Të gjithë studentët në një vend</a:t>
            </a:r>
          </a:p>
        </p:txBody>
      </p:sp>
      <p:sp>
        <p:nvSpPr>
          <p:cNvPr id="3" name="Korniza"/>
          <p:cNvSpPr/>
          <p:nvPr/>
        </p:nvSpPr>
        <p:spPr>
          <a:xfrm>
            <a:off x="5077663" y="1389888"/>
            <a:ext cx="6638544" cy="383876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0000" dist="25400" dir="5400000" algn="t" rotWithShape="0">
              <a:srgbClr val="1C233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shot_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815" y="1463040"/>
            <a:ext cx="6492240" cy="3692461"/>
          </a:xfrm>
          <a:prstGeom prst="rect">
            <a:avLst/>
          </a:prstGeom>
          <a:ln w="9525">
            <a:solidFill>
              <a:srgbClr val="DFE3E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160020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600" b="1">
                <a:solidFill>
                  <a:srgbClr val="1C2330"/>
                </a:solidFill>
                <a:latin typeface="Calibri"/>
              </a:rPr>
              <a:t>Kërkim </a:t>
            </a:r>
            <a:r>
              <a:rPr sz="1600" b="0">
                <a:solidFill>
                  <a:srgbClr val="1C2330"/>
                </a:solidFill>
                <a:latin typeface="Calibri"/>
              </a:rPr>
              <a:t>me emër, email, nr. dokumenti, program ose shënim</a:t>
            </a:r>
          </a:p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600" b="1">
                <a:solidFill>
                  <a:srgbClr val="1C2330"/>
                </a:solidFill>
                <a:latin typeface="Calibri"/>
              </a:rPr>
              <a:t>Filtra: </a:t>
            </a:r>
            <a:r>
              <a:rPr sz="1600" b="0">
                <a:solidFill>
                  <a:srgbClr val="1C2330"/>
                </a:solidFill>
                <a:latin typeface="Calibri"/>
              </a:rPr>
              <a:t>vendas / ndërkombëtar, niveli, raundi 1–2–3, viti</a:t>
            </a:r>
          </a:p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600" b="1">
                <a:solidFill>
                  <a:srgbClr val="1C2330"/>
                </a:solidFill>
                <a:latin typeface="Calibri"/>
              </a:rPr>
              <a:t>Shënime </a:t>
            </a:r>
            <a:r>
              <a:rPr sz="1600" b="0">
                <a:solidFill>
                  <a:srgbClr val="1C2330"/>
                </a:solidFill>
                <a:latin typeface="Calibri"/>
              </a:rPr>
              <a:t>për çdo student (p.sh. mungon diploma)</a:t>
            </a:r>
          </a:p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600" b="1">
                <a:solidFill>
                  <a:srgbClr val="1C2330"/>
                </a:solidFill>
                <a:latin typeface="Calibri"/>
              </a:rPr>
              <a:t>Excel </a:t>
            </a:r>
            <a:r>
              <a:rPr sz="1600" b="0">
                <a:solidFill>
                  <a:srgbClr val="1C2330"/>
                </a:solidFill>
                <a:latin typeface="Calibri"/>
              </a:rPr>
              <a:t>me një klikim për raportet</a:t>
            </a:r>
          </a:p>
          <a:p>
            <a:pPr marL="256032" indent="-256032">
              <a:spcAft>
                <a:spcPts val="1200"/>
              </a:spcAft>
              <a:buClr>
                <a:srgbClr val="B3121B"/>
              </a:buClr>
              <a:buFont typeface="Arial"/>
              <a:buChar char="•"/>
            </a:pPr>
            <a:r>
              <a:rPr sz="1600" b="1">
                <a:solidFill>
                  <a:srgbClr val="1C2330"/>
                </a:solidFill>
                <a:latin typeface="Calibri"/>
              </a:rPr>
              <a:t>Ndrysho </a:t>
            </a:r>
            <a:r>
              <a:rPr sz="1600" b="0">
                <a:solidFill>
                  <a:srgbClr val="1C2330"/>
                </a:solidFill>
                <a:latin typeface="Calibri"/>
              </a:rPr>
              <a:t>dhe kontrata rikrijohet vetë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Programet dhe tarifat – pa programues</a:t>
            </a:r>
          </a:p>
        </p:txBody>
      </p:sp>
      <p:sp>
        <p:nvSpPr>
          <p:cNvPr id="3" name="Korniza"/>
          <p:cNvSpPr/>
          <p:nvPr/>
        </p:nvSpPr>
        <p:spPr>
          <a:xfrm>
            <a:off x="475488" y="1481328"/>
            <a:ext cx="6181344" cy="357873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0000" dist="25400" dir="5400000" algn="t" rotWithShape="0">
              <a:srgbClr val="1C233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shot_progra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035040" cy="3432428"/>
          </a:xfrm>
          <a:prstGeom prst="rect">
            <a:avLst/>
          </a:prstGeom>
          <a:ln w="9525">
            <a:solidFill>
              <a:srgbClr val="DFE3E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086600" y="164592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 i="0">
                <a:solidFill>
                  <a:srgbClr val="B3121B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1810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330"/>
                </a:solidFill>
                <a:latin typeface="Calibri"/>
              </a:rPr>
              <a:t>programe studimi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221284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11 Bachelor · 10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315468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 i="0">
                <a:solidFill>
                  <a:srgbClr val="B3121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31927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330"/>
                </a:solidFill>
                <a:latin typeface="Calibri"/>
              </a:rPr>
              <a:t>tarifa për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372160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vendas dhe ndërkombëtar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4800600"/>
            <a:ext cx="45564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B3121B"/>
              </a:buClr>
              <a:buFont typeface="Arial"/>
              <a:buChar char="•"/>
            </a:pPr>
            <a:r>
              <a:rPr sz="1500" b="0">
                <a:solidFill>
                  <a:srgbClr val="1C2330"/>
                </a:solidFill>
                <a:latin typeface="Calibri"/>
              </a:rPr>
              <a:t>Shto, ndrysho ose fsheh programe nga Cilësimet</a:t>
            </a:r>
          </a:p>
          <a:p>
            <a:pPr marL="256032" indent="-256032">
              <a:spcAft>
                <a:spcPts val="600"/>
              </a:spcAft>
              <a:buClr>
                <a:srgbClr val="B3121B"/>
              </a:buClr>
              <a:buFont typeface="Arial"/>
              <a:buChar char="•"/>
            </a:pPr>
            <a:r>
              <a:rPr sz="1500" b="0">
                <a:solidFill>
                  <a:srgbClr val="1C2330"/>
                </a:solidFill>
                <a:latin typeface="Calibri"/>
              </a:rPr>
              <a:t>Tarifa del vetë në formular kur zgjidhet programi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Portativ, i thjeshtë dhe lokal</a:t>
            </a:r>
          </a:p>
        </p:txBody>
      </p:sp>
      <p:sp>
        <p:nvSpPr>
          <p:cNvPr id="3" name="KPI 1"/>
          <p:cNvSpPr/>
          <p:nvPr/>
        </p:nvSpPr>
        <p:spPr>
          <a:xfrm>
            <a:off x="548640" y="1600200"/>
            <a:ext cx="2499283" cy="2834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1828800"/>
            <a:ext cx="19506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B3121B"/>
                </a:solidFill>
                <a:latin typeface="Calibri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788920"/>
            <a:ext cx="19506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330"/>
                </a:solidFill>
                <a:latin typeface="Calibri"/>
              </a:rPr>
              <a:t>instalime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246120"/>
            <a:ext cx="19506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B7486"/>
                </a:solidFill>
                <a:latin typeface="Calibri"/>
              </a:rPr>
              <a:t>Hapet me START.bat – pa XAMPP, pa internet</a:t>
            </a:r>
          </a:p>
        </p:txBody>
      </p:sp>
      <p:sp>
        <p:nvSpPr>
          <p:cNvPr id="7" name="KPI 2"/>
          <p:cNvSpPr/>
          <p:nvPr/>
        </p:nvSpPr>
        <p:spPr>
          <a:xfrm>
            <a:off x="3413683" y="1600200"/>
            <a:ext cx="2499283" cy="2834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88003" y="1828800"/>
            <a:ext cx="19506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B3121B"/>
                </a:solidFill>
                <a:latin typeface="Calibri"/>
              </a:rPr>
              <a:t>USB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8003" y="2788920"/>
            <a:ext cx="19506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330"/>
                </a:solidFill>
                <a:latin typeface="Calibri"/>
              </a:rPr>
              <a:t>në çdo kompjuter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8003" y="3246120"/>
            <a:ext cx="19506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B7486"/>
                </a:solidFill>
                <a:latin typeface="Calibri"/>
              </a:rPr>
              <a:t>Gjithçka në një dosje: programi, studentët, kontratat</a:t>
            </a:r>
          </a:p>
        </p:txBody>
      </p:sp>
      <p:sp>
        <p:nvSpPr>
          <p:cNvPr id="11" name="KPI 3"/>
          <p:cNvSpPr/>
          <p:nvPr/>
        </p:nvSpPr>
        <p:spPr>
          <a:xfrm>
            <a:off x="6278727" y="1600200"/>
            <a:ext cx="2499283" cy="2834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53047" y="1828800"/>
            <a:ext cx="19506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B3121B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788920"/>
            <a:ext cx="19506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330"/>
                </a:solidFill>
                <a:latin typeface="Calibri"/>
              </a:rPr>
              <a:t>lokal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246120"/>
            <a:ext cx="19506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B7486"/>
                </a:solidFill>
                <a:latin typeface="Calibri"/>
              </a:rPr>
              <a:t>Të dhënat nuk dalin nga kompjuteri / USB-ja</a:t>
            </a:r>
          </a:p>
        </p:txBody>
      </p:sp>
      <p:sp>
        <p:nvSpPr>
          <p:cNvPr id="15" name="KPI 4"/>
          <p:cNvSpPr/>
          <p:nvPr/>
        </p:nvSpPr>
        <p:spPr>
          <a:xfrm>
            <a:off x="9143771" y="1600200"/>
            <a:ext cx="2499283" cy="2834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418091" y="1828800"/>
            <a:ext cx="19506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B3121B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091" y="2788920"/>
            <a:ext cx="19506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2330"/>
                </a:solidFill>
                <a:latin typeface="Calibri"/>
              </a:rPr>
              <a:t>dosje = backup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091" y="3246120"/>
            <a:ext cx="19506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B7486"/>
                </a:solidFill>
                <a:latin typeface="Calibri"/>
              </a:rPr>
              <a:t>Kopjimi i dosjes ruan çdo gjë</a:t>
            </a:r>
          </a:p>
        </p:txBody>
      </p:sp>
      <p:sp>
        <p:nvSpPr>
          <p:cNvPr id="19" name="Kerkesat"/>
          <p:cNvSpPr/>
          <p:nvPr/>
        </p:nvSpPr>
        <p:spPr>
          <a:xfrm>
            <a:off x="548640" y="4800600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4800600"/>
            <a:ext cx="10454335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8E0E15"/>
                </a:solidFill>
                <a:latin typeface="Calibri"/>
              </a:rPr>
              <a:t>Kërkesat: </a:t>
            </a:r>
            <a:r>
              <a:rPr sz="1700" b="0" i="0">
                <a:solidFill>
                  <a:srgbClr val="1C2330"/>
                </a:solidFill>
                <a:latin typeface="Calibri"/>
              </a:rPr>
              <a:t>Windows 10/11  ·  Chrome ose Edge  ·  Microsoft Word (për printimin)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li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C2330"/>
                </a:solidFill>
                <a:latin typeface="Calibri"/>
              </a:rPr>
              <a:t>Hapat e ardhshëm</a:t>
            </a:r>
          </a:p>
        </p:txBody>
      </p:sp>
      <p:sp>
        <p:nvSpPr>
          <p:cNvPr id="3" name="Vija"/>
          <p:cNvSpPr/>
          <p:nvPr/>
        </p:nvSpPr>
        <p:spPr>
          <a:xfrm>
            <a:off x="914400" y="2075688"/>
            <a:ext cx="10362895" cy="54864"/>
          </a:xfrm>
          <a:prstGeom prst="rect">
            <a:avLst/>
          </a:prstGeom>
          <a:solidFill>
            <a:srgbClr val="DF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548640" y="1691640"/>
            <a:ext cx="822960" cy="82296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24078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330"/>
                </a:solidFill>
                <a:latin typeface="Calibri"/>
              </a:rPr>
              <a:t>Tarifat vendase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23164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Vendosja e tarifave reale për çdo program te Cilësimet</a:t>
            </a:r>
          </a:p>
        </p:txBody>
      </p:sp>
      <p:sp>
        <p:nvSpPr>
          <p:cNvPr id="7" name="Oval 6"/>
          <p:cNvSpPr/>
          <p:nvPr/>
        </p:nvSpPr>
        <p:spPr>
          <a:xfrm>
            <a:off x="3413683" y="1691640"/>
            <a:ext cx="822960" cy="82296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683" y="2788920"/>
            <a:ext cx="24078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330"/>
                </a:solidFill>
                <a:latin typeface="Calibri"/>
              </a:rPr>
              <a:t>Kontrolli i modeleve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3683" y="3291840"/>
            <a:ext cx="23164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Teksti i Letrës së pranimit dhe IBAN/SWIFT te Fleta e pagesës</a:t>
            </a:r>
          </a:p>
        </p:txBody>
      </p:sp>
      <p:sp>
        <p:nvSpPr>
          <p:cNvPr id="10" name="Oval 9"/>
          <p:cNvSpPr/>
          <p:nvPr/>
        </p:nvSpPr>
        <p:spPr>
          <a:xfrm>
            <a:off x="6278727" y="1691640"/>
            <a:ext cx="822960" cy="822960"/>
          </a:xfrm>
          <a:prstGeom prst="ellipse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788920"/>
            <a:ext cx="24078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330"/>
                </a:solidFill>
                <a:latin typeface="Calibri"/>
              </a:rPr>
              <a:t>Trajnimi i stafit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291840"/>
            <a:ext cx="23164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Prezantim i shkurtër praktik për kolegët e Zyrës së Pranimeve</a:t>
            </a:r>
          </a:p>
        </p:txBody>
      </p:sp>
      <p:sp>
        <p:nvSpPr>
          <p:cNvPr id="13" name="Oval 12"/>
          <p:cNvSpPr/>
          <p:nvPr/>
        </p:nvSpPr>
        <p:spPr>
          <a:xfrm>
            <a:off x="9143771" y="1691640"/>
            <a:ext cx="822960" cy="822960"/>
          </a:xfrm>
          <a:prstGeom prst="ellipse">
            <a:avLst/>
          </a:prstGeom>
          <a:solidFill>
            <a:srgbClr val="1C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771" y="2788920"/>
            <a:ext cx="24078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C2330"/>
                </a:solidFill>
                <a:latin typeface="Calibri"/>
              </a:rPr>
              <a:t>Zgjerime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1" y="3291840"/>
            <a:ext cx="23164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7486"/>
                </a:solidFill>
                <a:latin typeface="Calibri"/>
              </a:rPr>
              <a:t>Statusi i pagesave, lista e dokumenteve, fjalëkalim dhe backup automatik</a:t>
            </a:r>
          </a:p>
        </p:txBody>
      </p:sp>
      <p:sp>
        <p:nvSpPr>
          <p:cNvPr id="16" name="Vendimi"/>
          <p:cNvSpPr/>
          <p:nvPr/>
        </p:nvSpPr>
        <p:spPr>
          <a:xfrm>
            <a:off x="548640" y="4892040"/>
            <a:ext cx="11094415" cy="960120"/>
          </a:xfrm>
          <a:prstGeom prst="roundRect">
            <a:avLst>
              <a:gd name="adj" fmla="val 1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8E0E15"/>
                </a:solidFill>
                <a:latin typeface="Calibri"/>
              </a:rPr>
              <a:t>Për vendim sot: </a:t>
            </a:r>
            <a:r>
              <a:rPr sz="1800" b="0" i="0">
                <a:solidFill>
                  <a:srgbClr val="1C2330"/>
                </a:solidFill>
                <a:latin typeface="Calibri"/>
              </a:rPr>
              <a:t>kush e bën secilin hap dhe deri kur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CIT · Zyra e Pranimeve · Kontratat e Studentëve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B748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3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Faleminderit!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Calibri"/>
              </a:rPr>
              <a:t>Pyetje dhe diskutim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D9DC"/>
                </a:solidFill>
                <a:latin typeface="Calibri"/>
              </a:rPr>
              <a:t>Demonstrim i drejtpërdrejtë: START.bat → Kontratë e 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Kontratat e Studentëve – CIT</dc:title>
  <dc:subject/>
  <dc:creator>Zyra e Pranimeve – CIT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